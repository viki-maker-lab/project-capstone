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71" r:id="rId4"/>
    <p:sldId id="268" r:id="rId5"/>
    <p:sldId id="272" r:id="rId6"/>
    <p:sldId id="267" r:id="rId7"/>
    <p:sldId id="261" r:id="rId8"/>
    <p:sldId id="273" r:id="rId9"/>
    <p:sldId id="266" r:id="rId10"/>
    <p:sldId id="274" r:id="rId11"/>
    <p:sldId id="264" r:id="rId12"/>
    <p:sldId id="275" r:id="rId13"/>
    <p:sldId id="262" r:id="rId14"/>
    <p:sldId id="276"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napToGrid="0">
      <p:cViewPr varScale="1">
        <p:scale>
          <a:sx n="74" d="100"/>
          <a:sy n="74" d="100"/>
        </p:scale>
        <p:origin x="4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dirty="0"/>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5/11/2026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5/11/2026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5/11/2026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5/11/2026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5/11/2026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5/11/2026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5/11/2026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4" name="Text Placeholder 3"/>
          <p:cNvSpPr>
            <a:spLocks noGrp="1"/>
          </p:cNvSpPr>
          <p:nvPr>
            <p:ph type="body" sz="half" idx="13"/>
          </p:nvPr>
        </p:nvSpPr>
        <p:spPr>
          <a:xfrm>
            <a:off x="1930400" y="3771174"/>
            <a:ext cx="7385828"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1" name="TextBox 10"/>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5/11/2026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5/11/2026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713"/>
          <a:stretch/>
        </p:blipFill>
        <p:spPr>
          <a:xfrm>
            <a:off x="8000197" y="0"/>
            <a:ext cx="1603387" cy="1143000"/>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4199"/>
          <a:stretch/>
        </p:blipFill>
        <p:spPr>
          <a:xfrm>
            <a:off x="8609012" y="6092866"/>
            <a:ext cx="993734" cy="765134"/>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5/11/2026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file:///C:\Users\VIKI\Desktop\VICTOR%20ADALA\HR_data%20copy.xlsx!Dashboard!R35C15:R39C16" TargetMode="Externa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emf"/><Relationship Id="rId5" Type="http://schemas.openxmlformats.org/officeDocument/2006/relationships/oleObject" Target="file:///C:\Users\VIKI\Desktop\VICTOR%20ADALA\HR_data%20copy.xlsx!Dashboard!%5bHR_data%20copy.xlsx%5dDashboard%20Chart%205" TargetMode="External"/><Relationship Id="rId4" Type="http://schemas.openxmlformats.org/officeDocument/2006/relationships/image" Target="../media/image6.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file:///C:\Users\VIKI\Desktop\VICTOR%20ADALA\HR_data%20copy.xlsx!Dashboard!%5bHR_data%20copy.xlsx%5dDashboard%20Chart%201" TargetMode="External"/><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8.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file:///C:\Users\VIKI\Desktop\VICTOR%20ADALA\HR_data%20copy.xlsx!Dashboard!%5bHR_data%20copy.xlsx%5dDashboard%20Chart%207" TargetMode="External"/><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9.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file:///C:\Users\VIKI\Desktop\VICTOR%20ADALA\HR_data%20copy.xlsx!Dashboard!%5bHR_data%20copy.xlsx%5dDashboard%20Chart%206" TargetMode="External"/><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0.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2196921"/>
          </a:xfrm>
        </p:spPr>
        <p:txBody>
          <a:bodyPr/>
          <a:lstStyle/>
          <a:p>
            <a:r>
              <a:rPr lang="en-US" dirty="0" smtClean="0">
                <a:solidFill>
                  <a:schemeClr val="tx1"/>
                </a:solidFill>
              </a:rPr>
              <a:t>PROJECT CAPSTONE</a:t>
            </a:r>
            <a:endParaRPr lang="en-US" dirty="0">
              <a:solidFill>
                <a:schemeClr val="tx1"/>
              </a:solidFill>
            </a:endParaRPr>
          </a:p>
        </p:txBody>
      </p:sp>
      <p:sp>
        <p:nvSpPr>
          <p:cNvPr id="3" name="Subtitle 2"/>
          <p:cNvSpPr>
            <a:spLocks noGrp="1"/>
          </p:cNvSpPr>
          <p:nvPr>
            <p:ph type="subTitle" idx="1"/>
          </p:nvPr>
        </p:nvSpPr>
        <p:spPr>
          <a:xfrm>
            <a:off x="1154955" y="3902299"/>
            <a:ext cx="8825658" cy="1736501"/>
          </a:xfrm>
        </p:spPr>
        <p:txBody>
          <a:bodyPr>
            <a:normAutofit/>
          </a:bodyPr>
          <a:lstStyle/>
          <a:p>
            <a:r>
              <a:rPr lang="en-US" b="1" dirty="0"/>
              <a:t>HR Analytics Project – Salt Corp</a:t>
            </a:r>
            <a:r>
              <a:rPr lang="en-US" dirty="0"/>
              <a:t/>
            </a:r>
            <a:br>
              <a:rPr lang="en-US" dirty="0"/>
            </a:br>
            <a:r>
              <a:rPr lang="en-US" b="1" dirty="0" smtClean="0"/>
              <a:t>Name</a:t>
            </a:r>
            <a:r>
              <a:rPr lang="en-US" b="1" dirty="0"/>
              <a:t>:</a:t>
            </a:r>
            <a:r>
              <a:rPr lang="en-US" dirty="0"/>
              <a:t> Victor Adala</a:t>
            </a:r>
            <a:br>
              <a:rPr lang="en-US" dirty="0"/>
            </a:br>
            <a:r>
              <a:rPr lang="en-US" b="1" dirty="0" smtClean="0"/>
              <a:t>Role</a:t>
            </a:r>
            <a:r>
              <a:rPr lang="en-US" b="1" dirty="0"/>
              <a:t>:</a:t>
            </a:r>
            <a:r>
              <a:rPr lang="en-US" dirty="0"/>
              <a:t> Data Analyst (</a:t>
            </a:r>
            <a:r>
              <a:rPr lang="en-US" dirty="0" smtClean="0"/>
              <a:t>Project)</a:t>
            </a:r>
          </a:p>
          <a:p>
            <a:r>
              <a:rPr lang="en-US" b="1" dirty="0" smtClean="0"/>
              <a:t>Tools</a:t>
            </a:r>
            <a:r>
              <a:rPr lang="en-US" b="1" dirty="0"/>
              <a:t>:</a:t>
            </a:r>
            <a:r>
              <a:rPr lang="en-US" dirty="0"/>
              <a:t> Microsoft Excel</a:t>
            </a:r>
            <a:endParaRPr lang="en-US" cap="none" dirty="0" smtClean="0"/>
          </a:p>
          <a:p>
            <a:endParaRPr lang="en-US" dirty="0"/>
          </a:p>
        </p:txBody>
      </p:sp>
    </p:spTree>
    <p:extLst>
      <p:ext uri="{BB962C8B-B14F-4D97-AF65-F5344CB8AC3E}">
        <p14:creationId xmlns:p14="http://schemas.microsoft.com/office/powerpoint/2010/main" val="40170202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9420" y="452718"/>
            <a:ext cx="3940935" cy="1400530"/>
          </a:xfrm>
        </p:spPr>
        <p:txBody>
          <a:bodyPr/>
          <a:lstStyle/>
          <a:p>
            <a:r>
              <a:rPr lang="en-US" sz="4000" u="sng" dirty="0" smtClean="0"/>
              <a:t>OBJECTIVES</a:t>
            </a:r>
            <a:endParaRPr lang="en-US" sz="4000" u="sng" dirty="0"/>
          </a:p>
        </p:txBody>
      </p:sp>
      <p:sp>
        <p:nvSpPr>
          <p:cNvPr id="3" name="Content Placeholder 2"/>
          <p:cNvSpPr>
            <a:spLocks noGrp="1"/>
          </p:cNvSpPr>
          <p:nvPr>
            <p:ph idx="1"/>
          </p:nvPr>
        </p:nvSpPr>
        <p:spPr/>
        <p:txBody>
          <a:bodyPr/>
          <a:lstStyle/>
          <a:p>
            <a:pPr marL="0" indent="0">
              <a:buNone/>
            </a:pPr>
            <a:r>
              <a:rPr lang="en-US" dirty="0"/>
              <a:t>The objective of this project is to analyze HR data from Salt Corp to uncover insights into employee distribution, compensation, performance, and benefits enrollment, and provide actionable recommendations to improve HR decision-making.</a:t>
            </a:r>
            <a:endParaRPr lang="en-US" dirty="0" smtClean="0"/>
          </a:p>
        </p:txBody>
      </p:sp>
    </p:spTree>
    <p:extLst>
      <p:ext uri="{BB962C8B-B14F-4D97-AF65-F5344CB8AC3E}">
        <p14:creationId xmlns:p14="http://schemas.microsoft.com/office/powerpoint/2010/main" val="753358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u="sng" dirty="0" smtClean="0"/>
              <a:t>DATASET OVERVIEW</a:t>
            </a:r>
            <a:endParaRPr lang="en-US" sz="4000" u="sng" dirty="0"/>
          </a:p>
        </p:txBody>
      </p:sp>
      <p:sp>
        <p:nvSpPr>
          <p:cNvPr id="4" name="Rectangle 1"/>
          <p:cNvSpPr>
            <a:spLocks noGrp="1" noChangeArrowheads="1"/>
          </p:cNvSpPr>
          <p:nvPr>
            <p:ph idx="1"/>
          </p:nvPr>
        </p:nvSpPr>
        <p:spPr bwMode="auto">
          <a:xfrm>
            <a:off x="360609" y="964428"/>
            <a:ext cx="9890976"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en-US" altLang="en-US" sz="1800" dirty="0" smtClean="0">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1.    </a:t>
            </a:r>
            <a:r>
              <a:rPr kumimoji="0" lang="en-US" altLang="en-US" sz="1800" b="0" i="0" u="none" strike="noStrike" cap="none" normalizeH="0" dirty="0" smtClean="0">
                <a:ln>
                  <a:noFill/>
                </a:ln>
                <a:solidFill>
                  <a:schemeClr val="tx1"/>
                </a:solidFill>
                <a:effectLst/>
                <a:latin typeface="Arial" panose="020B0604020202020204" pitchFamily="34" charset="0"/>
              </a:rPr>
              <a:t> </a:t>
            </a:r>
            <a:r>
              <a:rPr kumimoji="0" lang="en-US" altLang="en-US" b="0" i="0" u="none" strike="noStrike" cap="none" normalizeH="0" baseline="0" dirty="0" smtClean="0">
                <a:ln>
                  <a:noFill/>
                </a:ln>
                <a:solidFill>
                  <a:schemeClr val="tx1"/>
                </a:solidFill>
                <a:effectLst/>
              </a:rPr>
              <a:t>Total Records: </a:t>
            </a:r>
            <a:r>
              <a:rPr lang="en-US" altLang="en-US" b="1" dirty="0" smtClean="0"/>
              <a:t>1001</a:t>
            </a:r>
            <a:r>
              <a:rPr kumimoji="0" lang="en-US" altLang="en-US" b="0" i="0" u="none" strike="noStrike" cap="none" normalizeH="0" baseline="0" dirty="0" smtClean="0">
                <a:ln>
                  <a:noFill/>
                </a:ln>
                <a:solidFill>
                  <a:schemeClr val="tx1"/>
                </a:solidFill>
                <a:effectLst/>
              </a:rPr>
              <a:t>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smtClean="0">
                <a:ln>
                  <a:noFill/>
                </a:ln>
                <a:solidFill>
                  <a:schemeClr val="tx1"/>
                </a:solidFill>
                <a:effectLst/>
              </a:rPr>
              <a:t>2.    Total Columns: </a:t>
            </a:r>
            <a:r>
              <a:rPr lang="en-US" altLang="en-US" b="1" dirty="0" smtClean="0"/>
              <a:t>24</a:t>
            </a:r>
            <a:r>
              <a:rPr kumimoji="0" lang="en-US" altLang="en-US" b="0" i="0" u="none" strike="noStrike" cap="none" normalizeH="0" baseline="0" dirty="0" smtClean="0">
                <a:ln>
                  <a:noFill/>
                </a:ln>
                <a:solidFill>
                  <a:schemeClr val="tx1"/>
                </a:solidFill>
                <a:effectLst/>
              </a:rPr>
              <a:t>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dirty="0" smtClean="0"/>
              <a:t>3.    </a:t>
            </a:r>
            <a:r>
              <a:rPr kumimoji="0" lang="en-US" altLang="en-US" b="0" i="0" u="none" strike="noStrike" cap="none" normalizeH="0" baseline="0" dirty="0" smtClean="0">
                <a:ln>
                  <a:noFill/>
                </a:ln>
                <a:solidFill>
                  <a:schemeClr val="tx1"/>
                </a:solidFill>
                <a:effectLst/>
              </a:rPr>
              <a:t>Key Variables: </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t> </a:t>
            </a:r>
            <a:r>
              <a:rPr lang="en-US" altLang="en-US" dirty="0" smtClean="0"/>
              <a:t>          </a:t>
            </a:r>
            <a:r>
              <a:rPr kumimoji="0" lang="en-US" altLang="en-US" b="0" i="0" u="none" strike="noStrike" cap="none" normalizeH="0" baseline="0" dirty="0" smtClean="0">
                <a:ln>
                  <a:noFill/>
                </a:ln>
                <a:solidFill>
                  <a:schemeClr val="tx1"/>
                </a:solidFill>
                <a:effectLst/>
              </a:rPr>
              <a:t>Demographics: Age, Gender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smtClean="0">
                <a:ln>
                  <a:noFill/>
                </a:ln>
                <a:solidFill>
                  <a:schemeClr val="tx1"/>
                </a:solidFill>
                <a:effectLst/>
              </a:rPr>
              <a:t>           Employment: Department, Salary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smtClean="0">
                <a:ln>
                  <a:noFill/>
                </a:ln>
                <a:solidFill>
                  <a:schemeClr val="tx1"/>
                </a:solidFill>
                <a:effectLst/>
              </a:rPr>
              <a:t>           Performance: Performance Score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rPr>
              <a:t>Benefits: Enrollment Status </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smtClean="0"/>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smtClean="0">
                <a:ln>
                  <a:noFill/>
                </a:ln>
                <a:solidFill>
                  <a:schemeClr val="tx1"/>
                </a:solidFill>
                <a:effectLst/>
              </a:rPr>
              <a:t>4.    Data Types: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smtClean="0">
                <a:ln>
                  <a:noFill/>
                </a:ln>
                <a:solidFill>
                  <a:schemeClr val="tx1"/>
                </a:solidFill>
                <a:effectLst/>
              </a:rPr>
              <a:t>           Numerical: Salary, Age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smtClean="0">
                <a:ln>
                  <a:noFill/>
                </a:ln>
                <a:solidFill>
                  <a:schemeClr val="tx1"/>
                </a:solidFill>
                <a:effectLst/>
              </a:rPr>
              <a:t>           Categorical: Gender, Department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522232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1880" y="491354"/>
            <a:ext cx="9404723" cy="1400530"/>
          </a:xfrm>
        </p:spPr>
        <p:txBody>
          <a:bodyPr/>
          <a:lstStyle/>
          <a:p>
            <a:r>
              <a:rPr lang="en-US" sz="4000" u="sng" dirty="0" smtClean="0"/>
              <a:t>DATA CLEANING SUMMARY</a:t>
            </a:r>
            <a:endParaRPr lang="en-US" sz="4000" u="sng" dirty="0"/>
          </a:p>
        </p:txBody>
      </p:sp>
      <p:sp>
        <p:nvSpPr>
          <p:cNvPr id="3" name="Content Placeholder 2"/>
          <p:cNvSpPr>
            <a:spLocks noGrp="1"/>
          </p:cNvSpPr>
          <p:nvPr>
            <p:ph idx="1"/>
          </p:nvPr>
        </p:nvSpPr>
        <p:spPr>
          <a:xfrm>
            <a:off x="1103312" y="1107584"/>
            <a:ext cx="8946541" cy="5486400"/>
          </a:xfrm>
        </p:spPr>
        <p:txBody>
          <a:bodyPr/>
          <a:lstStyle/>
          <a:p>
            <a:pPr marL="0" indent="0">
              <a:buNone/>
            </a:pPr>
            <a:endParaRPr lang="en-US" dirty="0" smtClean="0"/>
          </a:p>
          <a:p>
            <a:pPr marL="457200" indent="-457200">
              <a:buFont typeface="+mj-lt"/>
              <a:buAutoNum type="arabicPeriod"/>
            </a:pPr>
            <a:r>
              <a:rPr lang="en-US" dirty="0" smtClean="0"/>
              <a:t>Standardized text formatting(UPPER,PROPER,LOWER).</a:t>
            </a:r>
          </a:p>
          <a:p>
            <a:pPr marL="457200" indent="-457200">
              <a:buFont typeface="+mj-lt"/>
              <a:buAutoNum type="arabicPeriod"/>
            </a:pPr>
            <a:r>
              <a:rPr lang="en-US" dirty="0" smtClean="0"/>
              <a:t>Converted inconsistent salary values(</a:t>
            </a:r>
            <a:r>
              <a:rPr lang="en-US" dirty="0" err="1" smtClean="0"/>
              <a:t>e.g</a:t>
            </a:r>
            <a:r>
              <a:rPr lang="en-US" dirty="0" smtClean="0"/>
              <a:t>, “Fifty Thousand “ replaced with 50,000).</a:t>
            </a:r>
          </a:p>
          <a:p>
            <a:pPr marL="457200" indent="-457200">
              <a:buFont typeface="+mj-lt"/>
              <a:buAutoNum type="arabicPeriod"/>
            </a:pPr>
            <a:r>
              <a:rPr lang="en-US" dirty="0" smtClean="0"/>
              <a:t>Generated  missing email addresses using company format.</a:t>
            </a:r>
          </a:p>
          <a:p>
            <a:pPr marL="457200" indent="-457200">
              <a:buFont typeface="+mj-lt"/>
              <a:buAutoNum type="arabicPeriod"/>
            </a:pPr>
            <a:r>
              <a:rPr lang="en-US" dirty="0" smtClean="0"/>
              <a:t>Handled missing salary values using AVERAGEIFS.</a:t>
            </a:r>
          </a:p>
          <a:p>
            <a:pPr marL="457200" indent="-457200">
              <a:buFont typeface="+mj-lt"/>
              <a:buAutoNum type="arabicPeriod"/>
            </a:pPr>
            <a:r>
              <a:rPr lang="en-US" dirty="0" smtClean="0"/>
              <a:t>Fixed inconsistent date formats.</a:t>
            </a:r>
          </a:p>
          <a:p>
            <a:pPr marL="457200" indent="-457200">
              <a:buFont typeface="+mj-lt"/>
              <a:buAutoNum type="arabicPeriod"/>
            </a:pPr>
            <a:r>
              <a:rPr lang="en-US" dirty="0" smtClean="0"/>
              <a:t>Standardized Yes/No values using IF function.</a:t>
            </a:r>
          </a:p>
          <a:p>
            <a:pPr marL="457200" indent="-457200">
              <a:buFont typeface="+mj-lt"/>
              <a:buAutoNum type="arabicPeriod"/>
            </a:pPr>
            <a:endParaRPr lang="en-US" dirty="0" smtClean="0"/>
          </a:p>
        </p:txBody>
      </p:sp>
    </p:spTree>
    <p:extLst>
      <p:ext uri="{BB962C8B-B14F-4D97-AF65-F5344CB8AC3E}">
        <p14:creationId xmlns:p14="http://schemas.microsoft.com/office/powerpoint/2010/main" val="260778457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2" y="452718"/>
            <a:ext cx="5509990" cy="1400530"/>
          </a:xfrm>
        </p:spPr>
        <p:txBody>
          <a:bodyPr/>
          <a:lstStyle/>
          <a:p>
            <a:r>
              <a:rPr lang="en-US" sz="4000" u="sng" dirty="0" smtClean="0"/>
              <a:t>METHODOLOGY</a:t>
            </a:r>
            <a:endParaRPr lang="en-US" sz="4000" u="sng" dirty="0"/>
          </a:p>
        </p:txBody>
      </p:sp>
      <p:sp>
        <p:nvSpPr>
          <p:cNvPr id="3" name="Content Placeholder 2"/>
          <p:cNvSpPr>
            <a:spLocks noGrp="1"/>
          </p:cNvSpPr>
          <p:nvPr>
            <p:ph idx="1"/>
          </p:nvPr>
        </p:nvSpPr>
        <p:spPr>
          <a:xfrm>
            <a:off x="227548" y="1481071"/>
            <a:ext cx="8946541" cy="4896117"/>
          </a:xfrm>
        </p:spPr>
        <p:txBody>
          <a:bodyPr/>
          <a:lstStyle/>
          <a:p>
            <a:endParaRPr lang="en-US" dirty="0" smtClean="0"/>
          </a:p>
          <a:p>
            <a:r>
              <a:rPr lang="en-US" dirty="0" smtClean="0"/>
              <a:t>Data cleaning and preparation in Excel</a:t>
            </a:r>
          </a:p>
          <a:p>
            <a:endParaRPr lang="en-US" dirty="0" smtClean="0"/>
          </a:p>
          <a:p>
            <a:r>
              <a:rPr lang="en-US" dirty="0" smtClean="0"/>
              <a:t>Exploratory data analysis using pivot tables</a:t>
            </a:r>
          </a:p>
          <a:p>
            <a:endParaRPr lang="en-US" dirty="0" smtClean="0"/>
          </a:p>
          <a:p>
            <a:r>
              <a:rPr lang="en-US" dirty="0" smtClean="0"/>
              <a:t>Data visualization using charts</a:t>
            </a:r>
          </a:p>
          <a:p>
            <a:endParaRPr lang="en-US" dirty="0" smtClean="0"/>
          </a:p>
          <a:p>
            <a:r>
              <a:rPr lang="en-US" dirty="0" smtClean="0"/>
              <a:t>Insight generation based on observed trends</a:t>
            </a:r>
            <a:endParaRPr lang="en-US" dirty="0"/>
          </a:p>
        </p:txBody>
      </p:sp>
    </p:spTree>
    <p:extLst>
      <p:ext uri="{BB962C8B-B14F-4D97-AF65-F5344CB8AC3E}">
        <p14:creationId xmlns:p14="http://schemas.microsoft.com/office/powerpoint/2010/main" val="5489130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5324" y="452718"/>
            <a:ext cx="6895510" cy="1400530"/>
          </a:xfrm>
        </p:spPr>
        <p:txBody>
          <a:bodyPr/>
          <a:lstStyle/>
          <a:p>
            <a:r>
              <a:rPr lang="en-US" sz="4000" u="sng" dirty="0" smtClean="0"/>
              <a:t>KEY ANALYSIS QUESTIONS</a:t>
            </a:r>
            <a:endParaRPr lang="en-US" sz="4000" u="sng" dirty="0"/>
          </a:p>
        </p:txBody>
      </p:sp>
      <p:sp>
        <p:nvSpPr>
          <p:cNvPr id="3" name="Content Placeholder 2"/>
          <p:cNvSpPr>
            <a:spLocks noGrp="1"/>
          </p:cNvSpPr>
          <p:nvPr>
            <p:ph idx="1"/>
          </p:nvPr>
        </p:nvSpPr>
        <p:spPr>
          <a:xfrm>
            <a:off x="1103312" y="1635618"/>
            <a:ext cx="8946541" cy="4612782"/>
          </a:xfrm>
        </p:spPr>
        <p:txBody>
          <a:bodyPr>
            <a:normAutofit fontScale="92500" lnSpcReduction="20000"/>
          </a:bodyPr>
          <a:lstStyle/>
          <a:p>
            <a:pPr marL="0" indent="0">
              <a:buNone/>
            </a:pPr>
            <a:r>
              <a:rPr lang="en-US" dirty="0" smtClean="0"/>
              <a:t>1</a:t>
            </a:r>
            <a:r>
              <a:rPr lang="en-US" dirty="0"/>
              <a:t>. How many employees work in each department? </a:t>
            </a:r>
            <a:endParaRPr lang="en-US" dirty="0" smtClean="0"/>
          </a:p>
          <a:p>
            <a:pPr marL="0" indent="0">
              <a:buNone/>
            </a:pPr>
            <a:endParaRPr lang="en-US" dirty="0" smtClean="0"/>
          </a:p>
          <a:p>
            <a:pPr marL="0" indent="0">
              <a:buNone/>
            </a:pPr>
            <a:r>
              <a:rPr lang="en-US" dirty="0" smtClean="0"/>
              <a:t>2</a:t>
            </a:r>
            <a:r>
              <a:rPr lang="en-US" dirty="0"/>
              <a:t>. What is the average salary in the company</a:t>
            </a:r>
            <a:r>
              <a:rPr lang="en-US" dirty="0" smtClean="0"/>
              <a:t>?</a:t>
            </a:r>
          </a:p>
          <a:p>
            <a:pPr marL="0" indent="0">
              <a:buNone/>
            </a:pPr>
            <a:endParaRPr lang="en-US" dirty="0" smtClean="0"/>
          </a:p>
          <a:p>
            <a:pPr marL="0" indent="0">
              <a:buNone/>
            </a:pPr>
            <a:r>
              <a:rPr lang="en-US" dirty="0" smtClean="0"/>
              <a:t>3</a:t>
            </a:r>
            <a:r>
              <a:rPr lang="en-US" dirty="0"/>
              <a:t>. What is the gender distribution in the company</a:t>
            </a:r>
            <a:r>
              <a:rPr lang="en-US" dirty="0" smtClean="0"/>
              <a:t>?</a:t>
            </a:r>
          </a:p>
          <a:p>
            <a:pPr marL="0" indent="0">
              <a:buNone/>
            </a:pPr>
            <a:endParaRPr lang="en-US" dirty="0" smtClean="0"/>
          </a:p>
          <a:p>
            <a:pPr marL="0" indent="0">
              <a:buNone/>
            </a:pPr>
            <a:r>
              <a:rPr lang="en-US" dirty="0" smtClean="0"/>
              <a:t>4</a:t>
            </a:r>
            <a:r>
              <a:rPr lang="en-US" dirty="0"/>
              <a:t>. How old are employees on average? </a:t>
            </a:r>
            <a:endParaRPr lang="en-US" dirty="0" smtClean="0"/>
          </a:p>
          <a:p>
            <a:pPr marL="0" indent="0">
              <a:buNone/>
            </a:pPr>
            <a:endParaRPr lang="en-US" dirty="0" smtClean="0"/>
          </a:p>
          <a:p>
            <a:pPr marL="0" indent="0">
              <a:buNone/>
            </a:pPr>
            <a:r>
              <a:rPr lang="en-US" dirty="0" smtClean="0"/>
              <a:t>5. </a:t>
            </a:r>
            <a:r>
              <a:rPr lang="en-US" dirty="0"/>
              <a:t>What percentage of employees are enrolled in benefits? </a:t>
            </a:r>
          </a:p>
          <a:p>
            <a:pPr marL="0" indent="0">
              <a:buNone/>
            </a:pPr>
            <a:r>
              <a:rPr lang="en-US" dirty="0" smtClean="0"/>
              <a:t> </a:t>
            </a:r>
          </a:p>
          <a:p>
            <a:pPr marL="0" indent="0">
              <a:buNone/>
            </a:pPr>
            <a:r>
              <a:rPr lang="en-US" dirty="0" smtClean="0"/>
              <a:t>6. </a:t>
            </a:r>
            <a:r>
              <a:rPr lang="en-US" dirty="0"/>
              <a:t>Do high performers earn more? </a:t>
            </a:r>
            <a:endParaRPr lang="en-US" dirty="0" smtClean="0"/>
          </a:p>
          <a:p>
            <a:pPr marL="0" indent="0">
              <a:buNone/>
            </a:pPr>
            <a:r>
              <a:rPr lang="en-US" dirty="0" smtClean="0"/>
              <a:t>     </a:t>
            </a:r>
            <a:endParaRPr lang="en-US" dirty="0"/>
          </a:p>
        </p:txBody>
      </p:sp>
    </p:spTree>
    <p:extLst>
      <p:ext uri="{BB962C8B-B14F-4D97-AF65-F5344CB8AC3E}">
        <p14:creationId xmlns:p14="http://schemas.microsoft.com/office/powerpoint/2010/main" val="1111974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96533"/>
          </a:xfrm>
        </p:spPr>
        <p:txBody>
          <a:bodyPr/>
          <a:lstStyle/>
          <a:p>
            <a:r>
              <a:rPr lang="en-US" sz="4000" u="sng" dirty="0" smtClean="0"/>
              <a:t>GENDER DISTRIBUTION OF EMPLOYEES</a:t>
            </a:r>
            <a:endParaRPr lang="en-US" sz="4000" u="sng" dirty="0"/>
          </a:p>
        </p:txBody>
      </p:sp>
      <p:sp>
        <p:nvSpPr>
          <p:cNvPr id="3" name="Content Placeholder 2"/>
          <p:cNvSpPr>
            <a:spLocks noGrp="1"/>
          </p:cNvSpPr>
          <p:nvPr>
            <p:ph idx="1"/>
          </p:nvPr>
        </p:nvSpPr>
        <p:spPr>
          <a:xfrm>
            <a:off x="1257858" y="1249251"/>
            <a:ext cx="8946541" cy="4999148"/>
          </a:xfrm>
        </p:spPr>
        <p:txBody>
          <a:bodyPr>
            <a:normAutofit/>
          </a:bodyPr>
          <a:lstStyle/>
          <a:p>
            <a:pPr marL="0" indent="0">
              <a:buNone/>
            </a:pPr>
            <a:endParaRPr lang="en-US" dirty="0" smtClean="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771700790"/>
              </p:ext>
            </p:extLst>
          </p:nvPr>
        </p:nvGraphicFramePr>
        <p:xfrm>
          <a:off x="4298950" y="1406525"/>
          <a:ext cx="4889500" cy="2452688"/>
        </p:xfrm>
        <a:graphic>
          <a:graphicData uri="http://schemas.openxmlformats.org/presentationml/2006/ole">
            <mc:AlternateContent xmlns:mc="http://schemas.openxmlformats.org/markup-compatibility/2006">
              <mc:Choice xmlns:v="urn:schemas-microsoft-com:vml" Requires="v">
                <p:oleObj spid="_x0000_s4682" name="Worksheet" r:id="rId3" imgW="2914853" imgH="1057379" progId="Excel.Sheet.12">
                  <p:link updateAutomatic="1"/>
                </p:oleObj>
              </mc:Choice>
              <mc:Fallback>
                <p:oleObj name="Worksheet" r:id="rId3" imgW="2914853" imgH="1057379" progId="Excel.Sheet.12">
                  <p:link updateAutomatic="1"/>
                  <p:pic>
                    <p:nvPicPr>
                      <p:cNvPr id="0" name=""/>
                      <p:cNvPicPr/>
                      <p:nvPr/>
                    </p:nvPicPr>
                    <p:blipFill>
                      <a:blip r:embed="rId4"/>
                      <a:stretch>
                        <a:fillRect/>
                      </a:stretch>
                    </p:blipFill>
                    <p:spPr>
                      <a:xfrm>
                        <a:off x="4298950" y="1406525"/>
                        <a:ext cx="4889500" cy="2452688"/>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3677189986"/>
              </p:ext>
            </p:extLst>
          </p:nvPr>
        </p:nvGraphicFramePr>
        <p:xfrm>
          <a:off x="646111" y="1249251"/>
          <a:ext cx="9823083" cy="5371476"/>
        </p:xfrm>
        <a:graphic>
          <a:graphicData uri="http://schemas.openxmlformats.org/presentationml/2006/ole">
            <mc:AlternateContent xmlns:mc="http://schemas.openxmlformats.org/markup-compatibility/2006">
              <mc:Choice xmlns:v="urn:schemas-microsoft-com:vml" Requires="v">
                <p:oleObj spid="_x0000_s4683" name="Worksheet" r:id="rId5" imgW="6248460" imgH="3009872" progId="Excel.Sheet.12">
                  <p:link updateAutomatic="1"/>
                </p:oleObj>
              </mc:Choice>
              <mc:Fallback>
                <p:oleObj name="Worksheet" r:id="rId5" imgW="6248460" imgH="3009872" progId="Excel.Sheet.12">
                  <p:link updateAutomatic="1"/>
                  <p:pic>
                    <p:nvPicPr>
                      <p:cNvPr id="0" name=""/>
                      <p:cNvPicPr/>
                      <p:nvPr/>
                    </p:nvPicPr>
                    <p:blipFill>
                      <a:blip r:embed="rId6"/>
                      <a:stretch>
                        <a:fillRect/>
                      </a:stretch>
                    </p:blipFill>
                    <p:spPr>
                      <a:xfrm>
                        <a:off x="646111" y="1249251"/>
                        <a:ext cx="9823083" cy="5371476"/>
                      </a:xfrm>
                      <a:prstGeom prst="rect">
                        <a:avLst/>
                      </a:prstGeom>
                    </p:spPr>
                  </p:pic>
                </p:oleObj>
              </mc:Fallback>
            </mc:AlternateContent>
          </a:graphicData>
        </a:graphic>
      </p:graphicFrame>
    </p:spTree>
    <p:extLst>
      <p:ext uri="{BB962C8B-B14F-4D97-AF65-F5344CB8AC3E}">
        <p14:creationId xmlns:p14="http://schemas.microsoft.com/office/powerpoint/2010/main" val="37040207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a:t>FINDINGS:</a:t>
            </a:r>
          </a:p>
          <a:p>
            <a:pPr marL="0" indent="0">
              <a:buNone/>
            </a:pPr>
            <a:r>
              <a:rPr lang="en-US" dirty="0"/>
              <a:t>-There is an equal distribution of gender among the employees, as seen in the chart.</a:t>
            </a:r>
          </a:p>
          <a:p>
            <a:pPr marL="0" indent="0">
              <a:buNone/>
            </a:pPr>
            <a:endParaRPr lang="en-US" dirty="0"/>
          </a:p>
          <a:p>
            <a:pPr marL="0" indent="0">
              <a:buNone/>
            </a:pPr>
            <a:r>
              <a:rPr lang="en-US" dirty="0" smtClean="0"/>
              <a:t>INSIGHTS</a:t>
            </a:r>
            <a:r>
              <a:rPr lang="en-US" dirty="0"/>
              <a:t>:</a:t>
            </a:r>
          </a:p>
          <a:p>
            <a:pPr marL="0" indent="0">
              <a:buNone/>
            </a:pPr>
            <a:r>
              <a:rPr lang="en-US" dirty="0"/>
              <a:t>This indicates no visible gender imbalance at the workforce level</a:t>
            </a:r>
            <a:r>
              <a:rPr lang="en-US" dirty="0" smtClean="0"/>
              <a:t>.</a:t>
            </a:r>
          </a:p>
          <a:p>
            <a:pPr marL="0" indent="0">
              <a:buNone/>
            </a:pPr>
            <a:endParaRPr lang="en-US" dirty="0"/>
          </a:p>
          <a:p>
            <a:pPr marL="0" indent="0">
              <a:buNone/>
            </a:pPr>
            <a:r>
              <a:rPr lang="en-US" dirty="0" smtClean="0"/>
              <a:t>RECOMMENDATION:</a:t>
            </a:r>
          </a:p>
          <a:p>
            <a:pPr marL="0" indent="0">
              <a:buNone/>
            </a:pPr>
            <a:r>
              <a:rPr lang="en-US" dirty="0" smtClean="0"/>
              <a:t>Maintain inclusive hiring practices while monitoring diversity across roles and seniority levels.</a:t>
            </a:r>
            <a:endParaRPr lang="en-US" dirty="0"/>
          </a:p>
          <a:p>
            <a:pPr marL="0" indent="0">
              <a:buNone/>
            </a:pPr>
            <a:endParaRPr lang="en-US" dirty="0"/>
          </a:p>
          <a:p>
            <a:endParaRPr lang="en-US" dirty="0"/>
          </a:p>
        </p:txBody>
      </p:sp>
    </p:spTree>
    <p:extLst>
      <p:ext uri="{BB962C8B-B14F-4D97-AF65-F5344CB8AC3E}">
        <p14:creationId xmlns:p14="http://schemas.microsoft.com/office/powerpoint/2010/main" val="316906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513197"/>
          </a:xfrm>
        </p:spPr>
        <p:txBody>
          <a:bodyPr/>
          <a:lstStyle/>
          <a:p>
            <a:r>
              <a:rPr lang="en-US" sz="4000" u="sng" dirty="0" smtClean="0"/>
              <a:t>SALARY VS PERFORMANCE</a:t>
            </a:r>
            <a:endParaRPr lang="en-US" sz="4000" u="sng" dirty="0"/>
          </a:p>
        </p:txBody>
      </p:sp>
      <p:sp>
        <p:nvSpPr>
          <p:cNvPr id="3" name="Content Placeholder 2"/>
          <p:cNvSpPr>
            <a:spLocks noGrp="1"/>
          </p:cNvSpPr>
          <p:nvPr>
            <p:ph idx="1"/>
          </p:nvPr>
        </p:nvSpPr>
        <p:spPr>
          <a:xfrm>
            <a:off x="646111" y="965916"/>
            <a:ext cx="9618351" cy="5782614"/>
          </a:xfrm>
        </p:spPr>
        <p:txBody>
          <a:bodyPr/>
          <a:lstStyle/>
          <a:p>
            <a:pPr marL="0" indent="0">
              <a:buNone/>
            </a:pPr>
            <a:endParaRPr lang="en-US" dirty="0" smtClean="0"/>
          </a:p>
          <a:p>
            <a:pPr marL="0" indent="0">
              <a:buNone/>
            </a:pPr>
            <a:endParaRPr lang="en-US" dirty="0" smtClean="0"/>
          </a:p>
          <a:p>
            <a:pPr marL="0" indent="0">
              <a:buNone/>
            </a:pPr>
            <a:endParaRPr lang="en-US" dirty="0" smtClean="0"/>
          </a:p>
          <a:p>
            <a:pPr marL="0" indent="0">
              <a:buNone/>
            </a:pPr>
            <a:endParaRPr lang="en-US" dirty="0" smtClean="0"/>
          </a:p>
        </p:txBody>
      </p:sp>
      <p:graphicFrame>
        <p:nvGraphicFramePr>
          <p:cNvPr id="4" name="Object 3"/>
          <p:cNvGraphicFramePr>
            <a:graphicFrameLocks noChangeAspect="1"/>
          </p:cNvGraphicFramePr>
          <p:nvPr>
            <p:extLst>
              <p:ext uri="{D42A27DB-BD31-4B8C-83A1-F6EECF244321}">
                <p14:modId xmlns:p14="http://schemas.microsoft.com/office/powerpoint/2010/main" val="2976468375"/>
              </p:ext>
            </p:extLst>
          </p:nvPr>
        </p:nvGraphicFramePr>
        <p:xfrm>
          <a:off x="829368" y="1204175"/>
          <a:ext cx="9877823" cy="5306096"/>
        </p:xfrm>
        <a:graphic>
          <a:graphicData uri="http://schemas.openxmlformats.org/presentationml/2006/ole">
            <mc:AlternateContent xmlns:mc="http://schemas.openxmlformats.org/markup-compatibility/2006">
              <mc:Choice xmlns:v="urn:schemas-microsoft-com:vml" Requires="v">
                <p:oleObj spid="_x0000_s10517" name="Worksheet" r:id="rId3" imgW="5210233" imgH="3019626" progId="Excel.Sheet.12">
                  <p:link updateAutomatic="1"/>
                </p:oleObj>
              </mc:Choice>
              <mc:Fallback>
                <p:oleObj name="Worksheet" r:id="rId3" imgW="5210233" imgH="3019626" progId="Excel.Sheet.12">
                  <p:link updateAutomatic="1"/>
                  <p:pic>
                    <p:nvPicPr>
                      <p:cNvPr id="0" name=""/>
                      <p:cNvPicPr/>
                      <p:nvPr/>
                    </p:nvPicPr>
                    <p:blipFill>
                      <a:blip r:embed="rId4"/>
                      <a:stretch>
                        <a:fillRect/>
                      </a:stretch>
                    </p:blipFill>
                    <p:spPr>
                      <a:xfrm>
                        <a:off x="829368" y="1204175"/>
                        <a:ext cx="9877823" cy="5306096"/>
                      </a:xfrm>
                      <a:prstGeom prst="rect">
                        <a:avLst/>
                      </a:prstGeom>
                    </p:spPr>
                  </p:pic>
                </p:oleObj>
              </mc:Fallback>
            </mc:AlternateContent>
          </a:graphicData>
        </a:graphic>
      </p:graphicFrame>
    </p:spTree>
    <p:extLst>
      <p:ext uri="{BB962C8B-B14F-4D97-AF65-F5344CB8AC3E}">
        <p14:creationId xmlns:p14="http://schemas.microsoft.com/office/powerpoint/2010/main" val="20771319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785612" y="1853248"/>
            <a:ext cx="9264242" cy="4395151"/>
          </a:xfrm>
        </p:spPr>
        <p:txBody>
          <a:bodyPr>
            <a:normAutofit lnSpcReduction="10000"/>
          </a:bodyPr>
          <a:lstStyle/>
          <a:p>
            <a:pPr marL="0" indent="0">
              <a:buNone/>
            </a:pPr>
            <a:r>
              <a:rPr lang="en-US" dirty="0"/>
              <a:t>FINDINGS:</a:t>
            </a:r>
          </a:p>
          <a:p>
            <a:pPr marL="0" indent="0">
              <a:buNone/>
            </a:pPr>
            <a:r>
              <a:rPr lang="en-US" dirty="0"/>
              <a:t>-Mid </a:t>
            </a:r>
            <a:r>
              <a:rPr lang="en-US" dirty="0" smtClean="0"/>
              <a:t>performers(30-39,40-49)are </a:t>
            </a:r>
            <a:r>
              <a:rPr lang="en-US" dirty="0"/>
              <a:t>paid more than top </a:t>
            </a:r>
            <a:r>
              <a:rPr lang="en-US" dirty="0" smtClean="0"/>
              <a:t>performers(80-89,90-100</a:t>
            </a:r>
            <a:r>
              <a:rPr lang="en-US" dirty="0"/>
              <a:t>).</a:t>
            </a:r>
          </a:p>
          <a:p>
            <a:pPr marL="0" indent="0">
              <a:buNone/>
            </a:pPr>
            <a:endParaRPr lang="en-US" dirty="0" smtClean="0"/>
          </a:p>
          <a:p>
            <a:pPr marL="0" indent="0">
              <a:buNone/>
            </a:pPr>
            <a:r>
              <a:rPr lang="en-US" dirty="0" smtClean="0"/>
              <a:t>INSIGHTS</a:t>
            </a:r>
            <a:r>
              <a:rPr lang="en-US" dirty="0"/>
              <a:t>:</a:t>
            </a:r>
          </a:p>
          <a:p>
            <a:pPr marL="0" indent="0">
              <a:buNone/>
            </a:pPr>
            <a:r>
              <a:rPr lang="en-US" dirty="0"/>
              <a:t>-Compensation is not </a:t>
            </a:r>
            <a:r>
              <a:rPr lang="en-US" dirty="0" smtClean="0"/>
              <a:t>aligned with </a:t>
            </a:r>
            <a:r>
              <a:rPr lang="en-US" dirty="0"/>
              <a:t>performance.</a:t>
            </a:r>
          </a:p>
          <a:p>
            <a:pPr>
              <a:buFontTx/>
              <a:buChar char="-"/>
            </a:pPr>
            <a:r>
              <a:rPr lang="en-US" dirty="0"/>
              <a:t>May reduce motivation</a:t>
            </a:r>
          </a:p>
          <a:p>
            <a:pPr>
              <a:buFontTx/>
              <a:buChar char="-"/>
            </a:pPr>
            <a:r>
              <a:rPr lang="en-US" dirty="0"/>
              <a:t>Risk of employee </a:t>
            </a:r>
            <a:r>
              <a:rPr lang="en-US" dirty="0" smtClean="0"/>
              <a:t>turnover</a:t>
            </a:r>
          </a:p>
          <a:p>
            <a:pPr marL="0" indent="0">
              <a:buNone/>
            </a:pPr>
            <a:endParaRPr lang="en-US" dirty="0" smtClean="0"/>
          </a:p>
          <a:p>
            <a:pPr marL="0" indent="0">
              <a:buNone/>
            </a:pPr>
            <a:r>
              <a:rPr lang="en-US" dirty="0" smtClean="0"/>
              <a:t>RECOMMENDATION</a:t>
            </a:r>
            <a:r>
              <a:rPr lang="en-US" dirty="0"/>
              <a:t>:</a:t>
            </a:r>
          </a:p>
          <a:p>
            <a:pPr marL="0" indent="0">
              <a:buNone/>
            </a:pPr>
            <a:r>
              <a:rPr lang="en-US" dirty="0"/>
              <a:t>-Introduce performance-based salary reviews and incentive structures</a:t>
            </a:r>
          </a:p>
          <a:p>
            <a:endParaRPr lang="en-US" dirty="0"/>
          </a:p>
          <a:p>
            <a:pPr marL="0" indent="0">
              <a:buNone/>
            </a:pPr>
            <a:endParaRPr lang="en-US" dirty="0" smtClean="0"/>
          </a:p>
          <a:p>
            <a:pPr marL="0" indent="0">
              <a:buNone/>
            </a:pPr>
            <a:endParaRPr lang="en-US" dirty="0"/>
          </a:p>
          <a:p>
            <a:endParaRPr lang="en-US" dirty="0"/>
          </a:p>
        </p:txBody>
      </p:sp>
    </p:spTree>
    <p:extLst>
      <p:ext uri="{BB962C8B-B14F-4D97-AF65-F5344CB8AC3E}">
        <p14:creationId xmlns:p14="http://schemas.microsoft.com/office/powerpoint/2010/main" val="295670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3312" y="154546"/>
            <a:ext cx="9404723" cy="759854"/>
          </a:xfrm>
        </p:spPr>
        <p:txBody>
          <a:bodyPr/>
          <a:lstStyle/>
          <a:p>
            <a:r>
              <a:rPr lang="en-US" sz="4000" u="sng" dirty="0" smtClean="0"/>
              <a:t>EMPLOYEE DISTRIBUTION BY DEPARTMENT</a:t>
            </a:r>
            <a:endParaRPr lang="en-US" sz="4000" u="sng" dirty="0"/>
          </a:p>
        </p:txBody>
      </p:sp>
      <p:sp>
        <p:nvSpPr>
          <p:cNvPr id="3" name="Content Placeholder 2"/>
          <p:cNvSpPr>
            <a:spLocks noGrp="1"/>
          </p:cNvSpPr>
          <p:nvPr>
            <p:ph idx="1"/>
          </p:nvPr>
        </p:nvSpPr>
        <p:spPr>
          <a:xfrm>
            <a:off x="1047525" y="914400"/>
            <a:ext cx="8946541" cy="5943600"/>
          </a:xfrm>
        </p:spPr>
        <p:txBody>
          <a:bodyPr/>
          <a:lstStyle/>
          <a:p>
            <a:pPr marL="0" indent="0">
              <a:buNone/>
            </a:pPr>
            <a:endParaRPr lang="en-US" dirty="0" smtClean="0"/>
          </a:p>
          <a:p>
            <a:pPr marL="0" indent="0">
              <a:buNone/>
            </a:pPr>
            <a:endParaRPr lang="en-US" dirty="0" smtClean="0"/>
          </a:p>
          <a:p>
            <a:pPr marL="0" indent="0">
              <a:buNone/>
            </a:pPr>
            <a:endParaRPr lang="en-US" dirty="0" smtClean="0"/>
          </a:p>
          <a:p>
            <a:pPr marL="0" indent="0">
              <a:buNone/>
            </a:pPr>
            <a:endParaRPr lang="en-US" dirty="0"/>
          </a:p>
          <a:p>
            <a:pPr marL="0" indent="0">
              <a:buNone/>
            </a:pPr>
            <a:endParaRPr lang="en-US" dirty="0" smtClean="0"/>
          </a:p>
        </p:txBody>
      </p:sp>
      <p:graphicFrame>
        <p:nvGraphicFramePr>
          <p:cNvPr id="4" name="Object 3"/>
          <p:cNvGraphicFramePr>
            <a:graphicFrameLocks noChangeAspect="1"/>
          </p:cNvGraphicFramePr>
          <p:nvPr>
            <p:extLst>
              <p:ext uri="{D42A27DB-BD31-4B8C-83A1-F6EECF244321}">
                <p14:modId xmlns:p14="http://schemas.microsoft.com/office/powerpoint/2010/main" val="2612771123"/>
              </p:ext>
            </p:extLst>
          </p:nvPr>
        </p:nvGraphicFramePr>
        <p:xfrm>
          <a:off x="821315" y="1416674"/>
          <a:ext cx="9398959" cy="5344733"/>
        </p:xfrm>
        <a:graphic>
          <a:graphicData uri="http://schemas.openxmlformats.org/presentationml/2006/ole">
            <mc:AlternateContent xmlns:mc="http://schemas.openxmlformats.org/markup-compatibility/2006">
              <mc:Choice xmlns:v="urn:schemas-microsoft-com:vml" Requires="v">
                <p:oleObj spid="_x0000_s8473" name="Worksheet" r:id="rId3" imgW="6553090" imgH="3562281" progId="Excel.Sheet.12">
                  <p:link updateAutomatic="1"/>
                </p:oleObj>
              </mc:Choice>
              <mc:Fallback>
                <p:oleObj name="Worksheet" r:id="rId3" imgW="6553090" imgH="3562281" progId="Excel.Sheet.12">
                  <p:link updateAutomatic="1"/>
                  <p:pic>
                    <p:nvPicPr>
                      <p:cNvPr id="0" name=""/>
                      <p:cNvPicPr/>
                      <p:nvPr/>
                    </p:nvPicPr>
                    <p:blipFill>
                      <a:blip r:embed="rId4"/>
                      <a:stretch>
                        <a:fillRect/>
                      </a:stretch>
                    </p:blipFill>
                    <p:spPr>
                      <a:xfrm>
                        <a:off x="821315" y="1416674"/>
                        <a:ext cx="9398959" cy="5344733"/>
                      </a:xfrm>
                      <a:prstGeom prst="rect">
                        <a:avLst/>
                      </a:prstGeom>
                    </p:spPr>
                  </p:pic>
                </p:oleObj>
              </mc:Fallback>
            </mc:AlternateContent>
          </a:graphicData>
        </a:graphic>
      </p:graphicFrame>
    </p:spTree>
    <p:extLst>
      <p:ext uri="{BB962C8B-B14F-4D97-AF65-F5344CB8AC3E}">
        <p14:creationId xmlns:p14="http://schemas.microsoft.com/office/powerpoint/2010/main" val="814503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63866" y="2040039"/>
            <a:ext cx="9186968" cy="4682733"/>
          </a:xfrm>
        </p:spPr>
        <p:txBody>
          <a:bodyPr/>
          <a:lstStyle/>
          <a:p>
            <a:pPr marL="0" indent="0">
              <a:buNone/>
            </a:pPr>
            <a:r>
              <a:rPr lang="en-US" dirty="0"/>
              <a:t>FINDINGS:</a:t>
            </a:r>
          </a:p>
          <a:p>
            <a:pPr marL="0" indent="0">
              <a:buNone/>
            </a:pPr>
            <a:r>
              <a:rPr lang="en-US" dirty="0"/>
              <a:t>-Finance : 130 employees(highest)</a:t>
            </a:r>
          </a:p>
          <a:p>
            <a:pPr marL="0" indent="0">
              <a:buNone/>
            </a:pPr>
            <a:r>
              <a:rPr lang="en-US" dirty="0"/>
              <a:t>-Marketing : 107 employees(lowest)</a:t>
            </a:r>
          </a:p>
          <a:p>
            <a:pPr marL="0" indent="0">
              <a:buNone/>
            </a:pPr>
            <a:endParaRPr lang="en-US" dirty="0" smtClean="0"/>
          </a:p>
          <a:p>
            <a:pPr marL="0" indent="0">
              <a:buNone/>
            </a:pPr>
            <a:r>
              <a:rPr lang="en-US" dirty="0"/>
              <a:t>INSIGHTS:</a:t>
            </a:r>
          </a:p>
          <a:p>
            <a:pPr marL="0" indent="0">
              <a:buNone/>
            </a:pPr>
            <a:r>
              <a:rPr lang="en-US" dirty="0" smtClean="0"/>
              <a:t>-Workforce distribution is uneven across departments</a:t>
            </a:r>
          </a:p>
          <a:p>
            <a:pPr marL="0" indent="0">
              <a:buNone/>
            </a:pPr>
            <a:endParaRPr lang="en-US" dirty="0"/>
          </a:p>
          <a:p>
            <a:pPr marL="0" indent="0">
              <a:buNone/>
            </a:pPr>
            <a:r>
              <a:rPr lang="en-US" dirty="0" smtClean="0"/>
              <a:t>RECOMMENDATION:</a:t>
            </a:r>
          </a:p>
          <a:p>
            <a:pPr marL="0" indent="0">
              <a:buNone/>
            </a:pPr>
            <a:r>
              <a:rPr lang="en-US" dirty="0" smtClean="0"/>
              <a:t>-Assess workload across departments and adjust staffing or redistribute tasks accordingly.</a:t>
            </a:r>
            <a:endParaRPr lang="en-US" dirty="0"/>
          </a:p>
          <a:p>
            <a:pPr marL="0" indent="0">
              <a:buNone/>
            </a:pPr>
            <a:endParaRPr lang="en-US" dirty="0"/>
          </a:p>
        </p:txBody>
      </p:sp>
    </p:spTree>
    <p:extLst>
      <p:ext uri="{BB962C8B-B14F-4D97-AF65-F5344CB8AC3E}">
        <p14:creationId xmlns:p14="http://schemas.microsoft.com/office/powerpoint/2010/main" val="2070383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500319"/>
          </a:xfrm>
        </p:spPr>
        <p:txBody>
          <a:bodyPr/>
          <a:lstStyle/>
          <a:p>
            <a:r>
              <a:rPr lang="en-US" sz="4000" u="sng" dirty="0" smtClean="0"/>
              <a:t>PERCENTAGE OF BENEFITS ENROLLED</a:t>
            </a:r>
            <a:endParaRPr lang="en-US" sz="4000" u="sng" dirty="0"/>
          </a:p>
        </p:txBody>
      </p:sp>
      <p:sp>
        <p:nvSpPr>
          <p:cNvPr id="3" name="Content Placeholder 2"/>
          <p:cNvSpPr>
            <a:spLocks noGrp="1"/>
          </p:cNvSpPr>
          <p:nvPr>
            <p:ph idx="1"/>
          </p:nvPr>
        </p:nvSpPr>
        <p:spPr>
          <a:xfrm>
            <a:off x="103032" y="1223492"/>
            <a:ext cx="11887199" cy="5634507"/>
          </a:xfrm>
        </p:spPr>
        <p:txBody>
          <a:bodyPr>
            <a:normAutofit/>
          </a:bodyPr>
          <a:lstStyle/>
          <a:p>
            <a:pPr marL="0" indent="0">
              <a:buNone/>
            </a:pPr>
            <a:endParaRPr lang="en-US" dirty="0" smtClean="0"/>
          </a:p>
        </p:txBody>
      </p:sp>
      <p:graphicFrame>
        <p:nvGraphicFramePr>
          <p:cNvPr id="5" name="Object 4"/>
          <p:cNvGraphicFramePr>
            <a:graphicFrameLocks noChangeAspect="1"/>
          </p:cNvGraphicFramePr>
          <p:nvPr>
            <p:extLst>
              <p:ext uri="{D42A27DB-BD31-4B8C-83A1-F6EECF244321}">
                <p14:modId xmlns:p14="http://schemas.microsoft.com/office/powerpoint/2010/main" val="885041195"/>
              </p:ext>
            </p:extLst>
          </p:nvPr>
        </p:nvGraphicFramePr>
        <p:xfrm>
          <a:off x="654050" y="1373188"/>
          <a:ext cx="9899650" cy="5065712"/>
        </p:xfrm>
        <a:graphic>
          <a:graphicData uri="http://schemas.openxmlformats.org/presentationml/2006/ole">
            <mc:AlternateContent xmlns:mc="http://schemas.openxmlformats.org/markup-compatibility/2006">
              <mc:Choice xmlns:v="urn:schemas-microsoft-com:vml" Requires="v">
                <p:oleObj spid="_x0000_s5497" name="Worksheet" r:id="rId3" imgW="5095664" imgH="3000562" progId="Excel.Sheet.12">
                  <p:link updateAutomatic="1"/>
                </p:oleObj>
              </mc:Choice>
              <mc:Fallback>
                <p:oleObj name="Worksheet" r:id="rId3" imgW="5095664" imgH="3000562" progId="Excel.Sheet.12">
                  <p:link updateAutomatic="1"/>
                  <p:pic>
                    <p:nvPicPr>
                      <p:cNvPr id="0" name=""/>
                      <p:cNvPicPr/>
                      <p:nvPr/>
                    </p:nvPicPr>
                    <p:blipFill>
                      <a:blip r:embed="rId4"/>
                      <a:stretch>
                        <a:fillRect/>
                      </a:stretch>
                    </p:blipFill>
                    <p:spPr>
                      <a:xfrm>
                        <a:off x="654050" y="1373188"/>
                        <a:ext cx="9899650" cy="5065712"/>
                      </a:xfrm>
                      <a:prstGeom prst="rect">
                        <a:avLst/>
                      </a:prstGeom>
                    </p:spPr>
                  </p:pic>
                </p:oleObj>
              </mc:Fallback>
            </mc:AlternateContent>
          </a:graphicData>
        </a:graphic>
      </p:graphicFrame>
    </p:spTree>
    <p:extLst>
      <p:ext uri="{BB962C8B-B14F-4D97-AF65-F5344CB8AC3E}">
        <p14:creationId xmlns:p14="http://schemas.microsoft.com/office/powerpoint/2010/main" val="41220484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01522" y="2052918"/>
            <a:ext cx="9148332" cy="4805082"/>
          </a:xfrm>
        </p:spPr>
        <p:txBody>
          <a:bodyPr/>
          <a:lstStyle/>
          <a:p>
            <a:pPr marL="0" indent="0">
              <a:buNone/>
            </a:pPr>
            <a:r>
              <a:rPr lang="en-US" dirty="0"/>
              <a:t>FINDINGS:</a:t>
            </a:r>
          </a:p>
          <a:p>
            <a:pPr marL="0" indent="0">
              <a:buNone/>
            </a:pPr>
            <a:r>
              <a:rPr lang="en-US" dirty="0" smtClean="0"/>
              <a:t>- Only 41% of employees are enrolled in benefits programs </a:t>
            </a:r>
            <a:endParaRPr lang="en-US" dirty="0"/>
          </a:p>
          <a:p>
            <a:pPr marL="0" indent="0">
              <a:buNone/>
            </a:pPr>
            <a:r>
              <a:rPr lang="en-US" dirty="0" smtClean="0"/>
              <a:t>- 59% are not enrolled</a:t>
            </a:r>
          </a:p>
          <a:p>
            <a:pPr marL="0" indent="0">
              <a:buNone/>
            </a:pPr>
            <a:endParaRPr lang="en-US" dirty="0" smtClean="0"/>
          </a:p>
          <a:p>
            <a:pPr marL="0" indent="0">
              <a:buNone/>
            </a:pPr>
            <a:r>
              <a:rPr lang="en-US" dirty="0" smtClean="0"/>
              <a:t>INSIGHTS:</a:t>
            </a:r>
          </a:p>
          <a:p>
            <a:pPr marL="0" indent="0">
              <a:buNone/>
            </a:pPr>
            <a:r>
              <a:rPr lang="en-US" dirty="0" smtClean="0"/>
              <a:t>-Benefits programs may be underutilized due to low awareness, accessibility, or perceived value.</a:t>
            </a:r>
          </a:p>
          <a:p>
            <a:pPr marL="0" indent="0">
              <a:buNone/>
            </a:pPr>
            <a:endParaRPr lang="en-US" dirty="0" smtClean="0"/>
          </a:p>
          <a:p>
            <a:pPr marL="0" indent="0">
              <a:buNone/>
            </a:pPr>
            <a:r>
              <a:rPr lang="en-US" dirty="0" smtClean="0"/>
              <a:t>RECOMMENDATION:</a:t>
            </a:r>
          </a:p>
          <a:p>
            <a:pPr marL="0" indent="0">
              <a:buNone/>
            </a:pPr>
            <a:r>
              <a:rPr lang="en-US" dirty="0" smtClean="0"/>
              <a:t>-Conduct employee surveys and improve communication and accessibility of benefits programs.</a:t>
            </a:r>
          </a:p>
          <a:p>
            <a:pPr marL="0" indent="0">
              <a:buNone/>
            </a:pPr>
            <a:endParaRPr lang="en-US" dirty="0" smtClean="0"/>
          </a:p>
          <a:p>
            <a:pPr marL="0" indent="0">
              <a:buNone/>
            </a:pPr>
            <a:endParaRPr lang="en-US" dirty="0"/>
          </a:p>
          <a:p>
            <a:endParaRPr lang="en-US" dirty="0"/>
          </a:p>
        </p:txBody>
      </p:sp>
    </p:spTree>
    <p:extLst>
      <p:ext uri="{BB962C8B-B14F-4D97-AF65-F5344CB8AC3E}">
        <p14:creationId xmlns:p14="http://schemas.microsoft.com/office/powerpoint/2010/main" val="3459215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KEY TAKEAWAYS /SUMMARY</a:t>
            </a:r>
            <a:endParaRPr lang="en-US" sz="4000" dirty="0"/>
          </a:p>
        </p:txBody>
      </p:sp>
      <p:sp>
        <p:nvSpPr>
          <p:cNvPr id="3" name="Content Placeholder 2"/>
          <p:cNvSpPr>
            <a:spLocks noGrp="1"/>
          </p:cNvSpPr>
          <p:nvPr>
            <p:ph idx="1"/>
          </p:nvPr>
        </p:nvSpPr>
        <p:spPr/>
        <p:txBody>
          <a:bodyPr/>
          <a:lstStyle/>
          <a:p>
            <a:r>
              <a:rPr lang="en-US" dirty="0" smtClean="0"/>
              <a:t>Salary is not aligned with performance.</a:t>
            </a:r>
          </a:p>
          <a:p>
            <a:endParaRPr lang="en-US" dirty="0"/>
          </a:p>
          <a:p>
            <a:r>
              <a:rPr lang="en-US" dirty="0" smtClean="0"/>
              <a:t>Benefits enrollment is low.</a:t>
            </a:r>
          </a:p>
          <a:p>
            <a:endParaRPr lang="en-US" dirty="0"/>
          </a:p>
          <a:p>
            <a:r>
              <a:rPr lang="en-US" dirty="0" smtClean="0"/>
              <a:t>Department workload may be uneven.</a:t>
            </a:r>
          </a:p>
        </p:txBody>
      </p:sp>
    </p:spTree>
    <p:extLst>
      <p:ext uri="{BB962C8B-B14F-4D97-AF65-F5344CB8AC3E}">
        <p14:creationId xmlns:p14="http://schemas.microsoft.com/office/powerpoint/2010/main" val="94053027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5A2F9111-B2DB-470C-BA56-608F9B658826}"/>
    </a:ext>
  </a:extLst>
</a:theme>
</file>

<file path=docProps/app.xml><?xml version="1.0" encoding="utf-8"?>
<Properties xmlns="http://schemas.openxmlformats.org/officeDocument/2006/extended-properties" xmlns:vt="http://schemas.openxmlformats.org/officeDocument/2006/docPropsVTypes">
  <Template>Ion</Template>
  <TotalTime>2213</TotalTime>
  <Words>455</Words>
  <Application>Microsoft Office PowerPoint</Application>
  <PresentationFormat>Widescreen</PresentationFormat>
  <Paragraphs>107</Paragraphs>
  <Slides>15</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Links</vt:lpstr>
      </vt:variant>
      <vt:variant>
        <vt:i4>5</vt:i4>
      </vt:variant>
      <vt:variant>
        <vt:lpstr>Slide Titles</vt:lpstr>
      </vt:variant>
      <vt:variant>
        <vt:i4>15</vt:i4>
      </vt:variant>
    </vt:vector>
  </HeadingPairs>
  <TitlesOfParts>
    <vt:vector size="24" baseType="lpstr">
      <vt:lpstr>Arial</vt:lpstr>
      <vt:lpstr>Century Gothic</vt:lpstr>
      <vt:lpstr>Wingdings 3</vt:lpstr>
      <vt:lpstr>Ion</vt:lpstr>
      <vt:lpstr>C:\Users\VIKI\Desktop\VICTOR ADALA\HR_data copy.xlsx!Dashboard!R35C15:R39C16</vt:lpstr>
      <vt:lpstr>C:\Users\VIKI\Desktop\VICTOR ADALA\HR_data copy.xlsx!Dashboard![HR_data copy.xlsx]Dashboard Chart 5</vt:lpstr>
      <vt:lpstr>C:\Users\VIKI\Desktop\VICTOR ADALA\HR_data copy.xlsx!Dashboard![HR_data copy.xlsx]Dashboard Chart 1</vt:lpstr>
      <vt:lpstr>C:\Users\VIKI\Desktop\VICTOR ADALA\HR_data copy.xlsx!Dashboard![HR_data copy.xlsx]Dashboard Chart 7</vt:lpstr>
      <vt:lpstr>C:\Users\VIKI\Desktop\VICTOR ADALA\HR_data copy.xlsx!Dashboard![HR_data copy.xlsx]Dashboard Chart 6</vt:lpstr>
      <vt:lpstr>PROJECT CAPSTONE</vt:lpstr>
      <vt:lpstr>OBJECTIVES</vt:lpstr>
      <vt:lpstr>DATASET OVERVIEW</vt:lpstr>
      <vt:lpstr>DATA CLEANING SUMMARY</vt:lpstr>
      <vt:lpstr>METHODOLOGY</vt:lpstr>
      <vt:lpstr>KEY ANALYSIS QUESTIONS</vt:lpstr>
      <vt:lpstr>GENDER DISTRIBUTION OF EMPLOYEES</vt:lpstr>
      <vt:lpstr>PowerPoint Presentation</vt:lpstr>
      <vt:lpstr>SALARY VS PERFORMANCE</vt:lpstr>
      <vt:lpstr>PowerPoint Presentation</vt:lpstr>
      <vt:lpstr>EMPLOYEE DISTRIBUTION BY DEPARTMENT</vt:lpstr>
      <vt:lpstr>PowerPoint Presentation</vt:lpstr>
      <vt:lpstr>PERCENTAGE OF BENEFITS ENROLLED</vt:lpstr>
      <vt:lpstr>PowerPoint Presentation</vt:lpstr>
      <vt:lpstr>KEY TAKEAWAYS /SUMMARY</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CAPSTONE</dc:title>
  <dc:creator>VIKI</dc:creator>
  <cp:lastModifiedBy>VIKI</cp:lastModifiedBy>
  <cp:revision>107</cp:revision>
  <dcterms:created xsi:type="dcterms:W3CDTF">2026-03-22T19:54:04Z</dcterms:created>
  <dcterms:modified xsi:type="dcterms:W3CDTF">2026-05-11T20:51:38Z</dcterms:modified>
</cp:coreProperties>
</file>